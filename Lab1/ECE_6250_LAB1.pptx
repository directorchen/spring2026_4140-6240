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3" r:id="rId3"/>
    <p:sldId id="298" r:id="rId4"/>
    <p:sldId id="270" r:id="rId5"/>
    <p:sldId id="299" r:id="rId6"/>
    <p:sldId id="300" r:id="rId7"/>
    <p:sldId id="303" r:id="rId8"/>
    <p:sldId id="265" r:id="rId9"/>
    <p:sldId id="266" r:id="rId10"/>
    <p:sldId id="301" r:id="rId11"/>
    <p:sldId id="302" r:id="rId12"/>
    <p:sldId id="271" r:id="rId13"/>
    <p:sldId id="272" r:id="rId14"/>
    <p:sldId id="304" r:id="rId15"/>
    <p:sldId id="305" r:id="rId16"/>
    <p:sldId id="306" r:id="rId17"/>
    <p:sldId id="30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/>
    <p:restoredTop sz="92698"/>
  </p:normalViewPr>
  <p:slideViewPr>
    <p:cSldViewPr snapToGrid="0">
      <p:cViewPr varScale="1">
        <p:scale>
          <a:sx n="115" d="100"/>
          <a:sy n="115" d="100"/>
        </p:scale>
        <p:origin x="5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F481B-0C3D-C74B-B4E4-07996FF3A079}" type="datetimeFigureOut">
              <a:rPr lang="en-US" smtClean="0"/>
              <a:t>1/11/26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50EEFE-FBF5-0F4A-ACFE-D729C5E3E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56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DD995A-2391-A64C-A19B-B98AA64CC1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512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E4837-8D79-CF1B-0122-3FEB5FF74B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B603DF-6B29-9E05-2CB1-DAA8850DB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C9D2F-DDCE-3DFD-A35E-FFA7401A7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6531-A8D4-4C0A-9019-BE71A1BEB1B7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84D43-CEF6-2B5E-B268-4D7EDEB4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14316-8F59-922F-7323-6CE1E76C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DFDB-E037-4C85-9719-A485AACB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9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9670E-96F7-B3BD-0C9C-568AE4C03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143BD-2BEC-E0BA-09DC-59064BE1A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B3687-6FA0-6B1A-8CC4-AB808BB0B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6531-A8D4-4C0A-9019-BE71A1BEB1B7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F0C07-1335-B2A2-E2FA-72A6D0FF5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CA630-507C-CB68-2626-3205404EA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DFDB-E037-4C85-9719-A485AACB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6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878D-9769-0054-B458-48AC0D28F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208D8-BD10-0FC5-6F0F-EFB6AD28C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7CDBB-376B-C8F4-6D92-55FC8F686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6531-A8D4-4C0A-9019-BE71A1BEB1B7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701D3-8CC0-7B6A-0B95-35FE7803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08FB9-6145-139B-74E9-A423429D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DFDB-E037-4C85-9719-A485AACB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50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9E99-121F-4BC6-A76B-8B18AA79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B8DF8-EBFE-EBC6-0544-51F3A8F61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A5485-46CC-1ADB-A414-E22B9A3B8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8EABC-7D2F-8F34-7685-5E594EA28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6531-A8D4-4C0A-9019-BE71A1BEB1B7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06A85-988D-6C1D-AAB3-C9585F18C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B4E39-DE0E-E265-3F14-DF8F87900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DFDB-E037-4C85-9719-A485AACB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43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92EBE-D723-EC3B-F13B-37F9E949A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C29A7-8801-587E-6552-E77947C32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9EB31-F1E0-03A6-1153-CC78BA32F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718B0-E2DB-97D3-A309-5E2A28AFB9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BD89E-1FE2-0901-DF3D-A519479D0E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3B4D8B-39E8-AD38-AFD8-93A4378B1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6531-A8D4-4C0A-9019-BE71A1BEB1B7}" type="datetimeFigureOut">
              <a:rPr lang="en-US" smtClean="0"/>
              <a:t>1/11/26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1598B-8C11-A48D-FE72-5672D3E04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FE4EC7-D3F1-775E-5D1C-52512245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DFDB-E037-4C85-9719-A485AACB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34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AC1E2-7F42-B603-4AEF-91FA7CADF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7ED971-19BB-8A82-2E12-A4EDBAA30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6531-A8D4-4C0A-9019-BE71A1BEB1B7}" type="datetimeFigureOut">
              <a:rPr lang="en-US" smtClean="0"/>
              <a:t>1/11/26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F2B70-C0AF-FEFC-946B-E5CD7FD3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B00FE5-2181-6329-B55B-70A0791E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DFDB-E037-4C85-9719-A485AACB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7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3203C1-01E5-631C-FDDE-EC698145E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6531-A8D4-4C0A-9019-BE71A1BEB1B7}" type="datetimeFigureOut">
              <a:rPr lang="en-US" smtClean="0"/>
              <a:t>1/11/26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70752B-6349-1421-A5F8-65035033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4093A-4AE7-CB9B-EDDB-4B6D5C9AD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DFDB-E037-4C85-9719-A485AACB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89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78262-009D-3BDA-36F1-C2E517C29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76C31-D4CB-2F47-3CA4-E97FAEE8C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1136CC-DCE2-AFFA-7B32-0BE1C96D4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2C02D-87AE-CE1F-4C10-70602882E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6531-A8D4-4C0A-9019-BE71A1BEB1B7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68A30-0C1A-F1EB-B594-658A2EA43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088C0-4E0F-2D32-751F-F67A89F9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DFDB-E037-4C85-9719-A485AACB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348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4C1A5-79D7-42D9-12CD-03075FFE0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4F5325-78D9-2B1F-10A4-D98E14A34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8547E-B7DA-C7A1-F18E-3DDA9DFDF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6A6BB-3684-9BED-20FF-BE0121734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6531-A8D4-4C0A-9019-BE71A1BEB1B7}" type="datetimeFigureOut">
              <a:rPr lang="en-US" smtClean="0"/>
              <a:t>1/11/26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D3255-3F16-896D-0D95-A23F1C10F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05C4E-6F2A-33F5-D757-C61607C49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DFDB-E037-4C85-9719-A485AACB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46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884D0-C1C5-A520-BD23-2D6A53485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2D465C-4A0F-FE27-5311-12352D6E2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8684B-8460-1570-9FEB-3D41CC87D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6531-A8D4-4C0A-9019-BE71A1BEB1B7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10050-F84F-9B87-1CFA-B1024F78C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0873A-9696-050C-D8E4-05B82CD3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DFDB-E037-4C85-9719-A485AACB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18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03E414-AC26-E817-F30C-8FFA66AA83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B169A-2EBC-B168-9B14-1CFD1190A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20875-088D-A932-44E2-1E03A221D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16531-A8D4-4C0A-9019-BE71A1BEB1B7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0E420-AFA0-5937-B4CE-DDF4241BB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4B6E5-EB5F-AA5B-3434-AB61677C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BDFDB-E037-4C85-9719-A485AACB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22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1BFAA9-2F59-8226-1961-664284817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44BB-6766-8AF6-6F3B-3633338A2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41674-9011-1C3B-B8E6-64DCF304A0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16531-A8D4-4C0A-9019-BE71A1BEB1B7}" type="datetimeFigureOut">
              <a:rPr lang="en-US" smtClean="0"/>
              <a:t>1/11/26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82800-04F1-A89E-F65A-2E738313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C2C37-A18E-21D6-3DC7-819F41944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BDFDB-E037-4C85-9719-A485AACB9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6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xin51@gwu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logs.gwu.edu/ece4140/labs/" TargetMode="External"/><Relationship Id="rId4" Type="http://schemas.openxmlformats.org/officeDocument/2006/relationships/hyperlink" Target="http://shell.seas.gwu.edu:3300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0A515-DE5E-F7A7-6D48-4FEF09CEC1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ECE 4150/6250_Lab1</a:t>
            </a:r>
            <a:br>
              <a:rPr lang="en-US" dirty="0"/>
            </a:br>
            <a:r>
              <a:rPr lang="en-US" dirty="0"/>
              <a:t>Environment Set 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D00B4-8768-45F7-822C-C119034138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Sichen Xin</a:t>
            </a:r>
          </a:p>
          <a:p>
            <a:r>
              <a:rPr lang="en-US" dirty="0"/>
              <a:t>E-mail: </a:t>
            </a:r>
            <a:r>
              <a:rPr lang="en-US" dirty="0">
                <a:hlinkClick r:id="rId2"/>
              </a:rPr>
              <a:t>sxin51@gwu.edu</a:t>
            </a:r>
            <a:endParaRPr lang="en-US" dirty="0"/>
          </a:p>
          <a:p>
            <a:r>
              <a:rPr lang="en-US" dirty="0"/>
              <a:t>Office Hour: Monday 1 pm to 3 pm</a:t>
            </a:r>
          </a:p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DirectorChen</a:t>
            </a:r>
            <a:r>
              <a:rPr lang="en-US" dirty="0"/>
              <a:t>/Spring2026_4140-6240</a:t>
            </a:r>
          </a:p>
        </p:txBody>
      </p:sp>
    </p:spTree>
    <p:extLst>
      <p:ext uri="{BB962C8B-B14F-4D97-AF65-F5344CB8AC3E}">
        <p14:creationId xmlns:p14="http://schemas.microsoft.com/office/powerpoint/2010/main" val="317999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3590E-D5C5-E1A1-8CEE-6799BE211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 Goal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D671A-644E-5C3C-C074-F38A4F9C5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34915" cy="4351338"/>
          </a:xfrm>
        </p:spPr>
        <p:txBody>
          <a:bodyPr>
            <a:normAutofit fontScale="92500"/>
          </a:bodyPr>
          <a:lstStyle/>
          <a:p>
            <a:r>
              <a:rPr lang="en-US" altLang="zh-CN" dirty="0"/>
              <a:t>You will learn some useful tools for synthesizing  RTL code.</a:t>
            </a:r>
          </a:p>
          <a:p>
            <a:r>
              <a:rPr lang="en-US" altLang="zh-CN" dirty="0"/>
              <a:t>You will learn place &amp; Route tool to generate IC Layout (You did it manually in ECE6240 ).</a:t>
            </a:r>
          </a:p>
          <a:p>
            <a:r>
              <a:rPr lang="en-US" altLang="zh-CN" dirty="0"/>
              <a:t>You will make a CPU for the final project by the end of this semester. </a:t>
            </a:r>
          </a:p>
          <a:p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The Linux system was updated but the tool, library, and scripts were not updated accordingly so that only 80% of the lab can be finished.</a:t>
            </a:r>
            <a:endParaRPr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4E033C-6DA7-444C-AE91-ADF47B10E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384" y="1028700"/>
            <a:ext cx="37465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284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93345-CEAC-45D6-9EF4-470D0EEC6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34B50-5C3D-3BEC-B86F-97301D7BA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F815E5-47B4-8FC2-3788-B79B921D3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AB90565-4EBE-A6FF-5036-D0BBCE9EDC2F}"/>
              </a:ext>
            </a:extLst>
          </p:cNvPr>
          <p:cNvSpPr txBox="1">
            <a:spLocks/>
          </p:cNvSpPr>
          <p:nvPr/>
        </p:nvSpPr>
        <p:spPr>
          <a:xfrm>
            <a:off x="838200" y="14988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USE VPN to connect to shell Linux(Your Personal Devices)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12E0CB-5135-FAFB-FCD0-CC217472A41E}"/>
              </a:ext>
            </a:extLst>
          </p:cNvPr>
          <p:cNvSpPr txBox="1"/>
          <p:nvPr/>
        </p:nvSpPr>
        <p:spPr>
          <a:xfrm>
            <a:off x="838200" y="2697723"/>
            <a:ext cx="833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https://ithelp.gwu.edu/en-us/article/1665784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A569C4FF-E285-8462-498D-EE6963120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410" y="2357555"/>
            <a:ext cx="33147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134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E26BC-C646-81A3-E9F5-367D11B6A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810"/>
            <a:ext cx="10515600" cy="1325563"/>
          </a:xfrm>
        </p:spPr>
        <p:txBody>
          <a:bodyPr/>
          <a:lstStyle/>
          <a:p>
            <a:r>
              <a:rPr lang="en-US" dirty="0"/>
              <a:t>Remote access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4BE82F-C3FE-9927-E5D7-7FD3CF00D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" y="1071124"/>
            <a:ext cx="9849498" cy="57868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73B3A-173B-AC1E-273C-58CA52CE3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3" y="2092325"/>
            <a:ext cx="7659329" cy="4351338"/>
          </a:xfrm>
        </p:spPr>
        <p:txBody>
          <a:bodyPr>
            <a:normAutofit lnSpcReduction="10000"/>
          </a:bodyPr>
          <a:lstStyle/>
          <a:p>
            <a:pPr marL="342900" indent="-342900">
              <a:buAutoNum type="arabicPeriod"/>
            </a:pPr>
            <a:r>
              <a:rPr lang="en-US" sz="2800" dirty="0"/>
              <a:t>Remote access to the Linux in Tompkins 411 with this link:</a:t>
            </a:r>
          </a:p>
          <a:p>
            <a:pPr marL="0" indent="0">
              <a:buNone/>
            </a:pPr>
            <a:r>
              <a:rPr lang="en-US" dirty="0">
                <a:hlinkClick r:id="rId4"/>
              </a:rPr>
              <a:t>http://shell.seas.gwu.edu:3300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en-US" sz="2800" dirty="0"/>
              <a:t>Username for new students could be: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>
                <a:highlight>
                  <a:srgbClr val="FFFF00"/>
                </a:highlight>
              </a:rPr>
              <a:t>G</a:t>
            </a:r>
            <a:r>
              <a:rPr lang="en-US" sz="2800" dirty="0"/>
              <a:t>XXXXXXXX not gXXXXXXXX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bg1"/>
                </a:solidFill>
              </a:rPr>
              <a:t>Follow this tutorial LAB2 –LAB 10:</a:t>
            </a:r>
          </a:p>
          <a:p>
            <a:r>
              <a:rPr lang="en-US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https://blogs.gwu.edu/ece4140/labs/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Password: 41406240RF</a:t>
            </a:r>
          </a:p>
          <a:p>
            <a:endParaRPr lang="en-US" dirty="0"/>
          </a:p>
          <a:p>
            <a:endParaRPr lang="en-US" sz="2800" dirty="0">
              <a:highlight>
                <a:srgbClr val="00FF00"/>
              </a:highlight>
            </a:endParaRPr>
          </a:p>
          <a:p>
            <a:endParaRPr lang="en-US" sz="2800" dirty="0">
              <a:highlight>
                <a:srgbClr val="00FF00"/>
              </a:highlight>
            </a:endParaRPr>
          </a:p>
          <a:p>
            <a:endParaRPr lang="en-US" dirty="0"/>
          </a:p>
          <a:p>
            <a:pPr marL="0" indent="0">
              <a:buNone/>
            </a:pP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949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3B42C-3A6D-A7CF-1487-EC6144B6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 Session -&gt;GNOME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DC8141-6746-990B-8869-C1E60287B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9928" y="1939925"/>
            <a:ext cx="29915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41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29BB6-E625-2357-B26F-072A1FE94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068"/>
            <a:ext cx="10515600" cy="1325563"/>
          </a:xfrm>
        </p:spPr>
        <p:txBody>
          <a:bodyPr/>
          <a:lstStyle/>
          <a:p>
            <a:r>
              <a:rPr lang="en-US" dirty="0"/>
              <a:t>Activities -&gt; Files-&gt;Home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CF1547D-7552-8BB2-8DAF-20ED39FB72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62890"/>
          <a:stretch/>
        </p:blipFill>
        <p:spPr>
          <a:xfrm>
            <a:off x="114301" y="1926032"/>
            <a:ext cx="3187700" cy="493196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6D2E34E-9D80-307B-A66E-868A0D9C2043}"/>
              </a:ext>
            </a:extLst>
          </p:cNvPr>
          <p:cNvSpPr/>
          <p:nvPr/>
        </p:nvSpPr>
        <p:spPr>
          <a:xfrm>
            <a:off x="114301" y="1803400"/>
            <a:ext cx="1460499" cy="1066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D9ECD4-67B5-EC45-5567-021BF07A981F}"/>
              </a:ext>
            </a:extLst>
          </p:cNvPr>
          <p:cNvSpPr/>
          <p:nvPr/>
        </p:nvSpPr>
        <p:spPr>
          <a:xfrm>
            <a:off x="0" y="4737100"/>
            <a:ext cx="1460499" cy="1066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53025F-C972-B76E-4A08-944193206D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728"/>
          <a:stretch/>
        </p:blipFill>
        <p:spPr>
          <a:xfrm>
            <a:off x="3416302" y="1926032"/>
            <a:ext cx="9010650" cy="4914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649A5-66C3-A2AD-EE37-CB6FD8B8F188}"/>
              </a:ext>
            </a:extLst>
          </p:cNvPr>
          <p:cNvSpPr txBox="1"/>
          <p:nvPr/>
        </p:nvSpPr>
        <p:spPr>
          <a:xfrm>
            <a:off x="5156200" y="1249850"/>
            <a:ext cx="391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Open in terminal</a:t>
            </a:r>
          </a:p>
        </p:txBody>
      </p:sp>
    </p:spTree>
    <p:extLst>
      <p:ext uri="{BB962C8B-B14F-4D97-AF65-F5344CB8AC3E}">
        <p14:creationId xmlns:p14="http://schemas.microsoft.com/office/powerpoint/2010/main" val="3047309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DAC3678-45F6-96E8-B11A-6B67F0157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89" y="1697128"/>
            <a:ext cx="9946961" cy="455634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CD25397-BBB1-4218-C4E5-783E9E3A86C7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1111590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Step 2 (do this if you have not take ECE4140/6240)</a:t>
            </a:r>
          </a:p>
        </p:txBody>
      </p:sp>
    </p:spTree>
    <p:extLst>
      <p:ext uri="{BB962C8B-B14F-4D97-AF65-F5344CB8AC3E}">
        <p14:creationId xmlns:p14="http://schemas.microsoft.com/office/powerpoint/2010/main" val="2803470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9026B-157A-10A2-365F-EEC17AF77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15907" cy="1325563"/>
          </a:xfrm>
        </p:spPr>
        <p:txBody>
          <a:bodyPr/>
          <a:lstStyle/>
          <a:p>
            <a:r>
              <a:rPr lang="en-US" dirty="0"/>
              <a:t>Step 2 (skip this if you have take ECE4140/6240)</a:t>
            </a:r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147C7E4-79D7-0FE5-3971-FDD3E7079C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15432"/>
            <a:ext cx="9885866" cy="5303419"/>
          </a:xfrm>
        </p:spPr>
      </p:pic>
    </p:spTree>
    <p:extLst>
      <p:ext uri="{BB962C8B-B14F-4D97-AF65-F5344CB8AC3E}">
        <p14:creationId xmlns:p14="http://schemas.microsoft.com/office/powerpoint/2010/main" val="3203869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126C801-B68F-8010-FCE2-D2B027599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166" y="0"/>
            <a:ext cx="5392027" cy="4351338"/>
          </a:xfrm>
        </p:spPr>
      </p:pic>
      <p:pic>
        <p:nvPicPr>
          <p:cNvPr id="7" name="Picture 6" descr="A computer code with text&#10;&#10;Description automatically generated">
            <a:extLst>
              <a:ext uri="{FF2B5EF4-FFF2-40B4-BE49-F238E27FC236}">
                <a16:creationId xmlns:a16="http://schemas.microsoft.com/office/drawing/2014/main" id="{95DAE530-06F1-8B1B-A140-B58D15CE3A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571" y="4351338"/>
            <a:ext cx="5022387" cy="23204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9E19AA-1296-6D11-4850-DE56EA2EE07E}"/>
              </a:ext>
            </a:extLst>
          </p:cNvPr>
          <p:cNvSpPr txBox="1"/>
          <p:nvPr/>
        </p:nvSpPr>
        <p:spPr>
          <a:xfrm>
            <a:off x="838200" y="1871147"/>
            <a:ext cx="41365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Check your .profile, and type: </a:t>
            </a:r>
            <a:r>
              <a:rPr lang="en-US" dirty="0">
                <a:highlight>
                  <a:srgbClr val="FFFF00"/>
                </a:highlight>
              </a:rPr>
              <a:t>.</a:t>
            </a:r>
            <a:r>
              <a:rPr lang="en-US" dirty="0">
                <a:solidFill>
                  <a:srgbClr val="FF0000"/>
                </a:solidFill>
                <a:highlight>
                  <a:srgbClr val="FF0000"/>
                </a:highlight>
              </a:rPr>
              <a:t>  </a:t>
            </a:r>
            <a:r>
              <a:rPr lang="en-US" dirty="0">
                <a:highlight>
                  <a:srgbClr val="FFFF00"/>
                </a:highlight>
              </a:rPr>
              <a:t>~/.profile  </a:t>
            </a:r>
            <a:r>
              <a:rPr lang="en-US" dirty="0"/>
              <a:t>in the terminal </a:t>
            </a:r>
          </a:p>
          <a:p>
            <a:r>
              <a:rPr lang="en-US" dirty="0"/>
              <a:t>Check ~./</a:t>
            </a:r>
            <a:r>
              <a:rPr lang="en-US" dirty="0" err="1"/>
              <a:t>bashrc</a:t>
            </a:r>
            <a:endParaRPr lang="en-US" dirty="0"/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Completely Log out and log in </a:t>
            </a:r>
          </a:p>
          <a:p>
            <a:endParaRPr lang="en-US" dirty="0"/>
          </a:p>
          <a:p>
            <a:r>
              <a:rPr lang="en-US" dirty="0"/>
              <a:t>If next time it does not work,</a:t>
            </a:r>
          </a:p>
          <a:p>
            <a:r>
              <a:rPr lang="en-US" dirty="0"/>
              <a:t> type </a:t>
            </a:r>
            <a:r>
              <a:rPr lang="en-US" dirty="0">
                <a:highlight>
                  <a:srgbClr val="FFFF00"/>
                </a:highlight>
              </a:rPr>
              <a:t>.</a:t>
            </a:r>
            <a:r>
              <a:rPr lang="en-US" dirty="0">
                <a:solidFill>
                  <a:srgbClr val="FF0000"/>
                </a:solidFill>
                <a:highlight>
                  <a:srgbClr val="FF0000"/>
                </a:highlight>
              </a:rPr>
              <a:t>  </a:t>
            </a:r>
            <a:r>
              <a:rPr lang="en-US" dirty="0">
                <a:highlight>
                  <a:srgbClr val="FFFF00"/>
                </a:highlight>
              </a:rPr>
              <a:t>~/.profile </a:t>
            </a:r>
            <a:r>
              <a:rPr lang="en-US" dirty="0"/>
              <a:t>again</a:t>
            </a:r>
          </a:p>
        </p:txBody>
      </p:sp>
    </p:spTree>
    <p:extLst>
      <p:ext uri="{BB962C8B-B14F-4D97-AF65-F5344CB8AC3E}">
        <p14:creationId xmlns:p14="http://schemas.microsoft.com/office/powerpoint/2010/main" val="2261868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06B2C-E86F-A7F9-6283-23BF2E69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F25E6-1311-76E0-DB9A-D1D8C74AE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E5A86-A33A-1444-69A6-C1D2A93D1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the following directories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7C0046-97E0-0DEF-7954-2237E58C0D9C}"/>
              </a:ext>
            </a:extLst>
          </p:cNvPr>
          <p:cNvSpPr txBox="1"/>
          <p:nvPr/>
        </p:nvSpPr>
        <p:spPr>
          <a:xfrm>
            <a:off x="838200" y="2469701"/>
            <a:ext cx="114476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</a:rPr>
              <a:t>hint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mkdir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~/ece41506250 </a:t>
            </a:r>
            <a:r>
              <a:rPr lang="en-US" dirty="0">
                <a:solidFill>
                  <a:srgbClr val="000000"/>
                </a:solidFill>
              </a:rPr>
              <a:t>would be the command to create the first directory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~/ece41506250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~/ece41506250/lab1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~/ece41506250/lab1/source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~/ece41506250/lab1/simulation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~/ece41506250/lab1/simulation/scripts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~/ece41506250/lab1/simulation/testbench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~/ece41506250/lab1/simulation/work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875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C7C1A0-D694-C783-58EA-4EF08DAEF211}"/>
              </a:ext>
            </a:extLst>
          </p:cNvPr>
          <p:cNvSpPr txBox="1"/>
          <p:nvPr/>
        </p:nvSpPr>
        <p:spPr>
          <a:xfrm>
            <a:off x="744372" y="116793"/>
            <a:ext cx="114476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Populate directories with files from blackboard</a:t>
            </a:r>
          </a:p>
          <a:p>
            <a:r>
              <a:rPr lang="en-US" dirty="0"/>
              <a:t>Download the 2 files(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sim-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nc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design_files</a:t>
            </a:r>
            <a:r>
              <a:rPr lang="en-US" dirty="0"/>
              <a:t>)from blackboard and create 3 files(</a:t>
            </a:r>
            <a:r>
              <a:rPr lang="en-US" dirty="0" err="1"/>
              <a:t>mux_b.v</a:t>
            </a:r>
            <a:r>
              <a:rPr lang="en-US" dirty="0"/>
              <a:t>, </a:t>
            </a:r>
            <a:r>
              <a:rPr lang="en-US" dirty="0" err="1"/>
              <a:t>mux_s.v</a:t>
            </a:r>
            <a:r>
              <a:rPr lang="en-US" dirty="0"/>
              <a:t>, </a:t>
            </a:r>
            <a:r>
              <a:rPr lang="en-US" dirty="0" err="1"/>
              <a:t>mux_tb.v</a:t>
            </a:r>
            <a:r>
              <a:rPr lang="en-US" dirty="0"/>
              <a:t>), then place them in the below directories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~/ece41506250/lab1/source/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mux_b.v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~/ece41506250/lab1/source/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mux_s.v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~/ece41506250/lab1/simulation/sim-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nc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~/ece41506250/lab1/simulation/scripts/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design_files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~/ece41506250/lab1/simulation/testbench/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mux_tb.v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BD57C5-3D00-BF1B-C671-2C864F5F0293}"/>
              </a:ext>
            </a:extLst>
          </p:cNvPr>
          <p:cNvSpPr txBox="1"/>
          <p:nvPr/>
        </p:nvSpPr>
        <p:spPr>
          <a:xfrm>
            <a:off x="744372" y="2979115"/>
            <a:ext cx="103176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Open and inspect </a:t>
            </a:r>
            <a:r>
              <a:rPr lang="en-US" u="sng" dirty="0"/>
              <a:t>sim-</a:t>
            </a:r>
            <a:r>
              <a:rPr lang="en-US" u="sng" dirty="0" err="1"/>
              <a:t>nc</a:t>
            </a:r>
            <a:endParaRPr lang="en-US" u="sng" dirty="0"/>
          </a:p>
          <a:p>
            <a:r>
              <a:rPr lang="en-US" u="sng" dirty="0"/>
              <a:t>sim-</a:t>
            </a:r>
            <a:r>
              <a:rPr lang="en-US" u="sng" dirty="0" err="1"/>
              <a:t>nc</a:t>
            </a:r>
            <a:r>
              <a:rPr lang="en-US" dirty="0"/>
              <a:t> is a simple bash script to simplify compiling and simulating Verilog files using Cadence </a:t>
            </a:r>
            <a:r>
              <a:rPr lang="en-US" dirty="0" err="1"/>
              <a:t>Xcelcium</a:t>
            </a:r>
            <a:r>
              <a:rPr lang="en-US" dirty="0"/>
              <a:t>. </a:t>
            </a:r>
          </a:p>
          <a:p>
            <a:r>
              <a:rPr lang="en-US" dirty="0"/>
              <a:t>Examine the script and become familiar with the commands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107F7E-9F7F-232E-87EA-16A06581D488}"/>
              </a:ext>
            </a:extLst>
          </p:cNvPr>
          <p:cNvSpPr txBox="1"/>
          <p:nvPr/>
        </p:nvSpPr>
        <p:spPr>
          <a:xfrm>
            <a:off x="744372" y="4497788"/>
            <a:ext cx="114476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Compile design</a:t>
            </a:r>
          </a:p>
          <a:p>
            <a:r>
              <a:rPr lang="en-US" dirty="0"/>
              <a:t>Navigate to the /simulation directory and run the command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source sim-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nc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–compile</a:t>
            </a:r>
          </a:p>
          <a:p>
            <a:r>
              <a:rPr lang="en-US" dirty="0"/>
              <a:t>to compile all the files listed in /simulation/scripts/</a:t>
            </a:r>
            <a:r>
              <a:rPr lang="en-US" dirty="0" err="1"/>
              <a:t>design_files</a:t>
            </a:r>
            <a:r>
              <a:rPr lang="en-US" dirty="0"/>
              <a:t>. All of these files are</a:t>
            </a:r>
          </a:p>
          <a:p>
            <a:r>
              <a:rPr lang="en-US" dirty="0"/>
              <a:t>syntax clean so there shouldn’t be any errors/warnings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/>
              <a:t>-Note: type all commands into the terminal, don’t copy/paste it from this</a:t>
            </a:r>
          </a:p>
          <a:p>
            <a:r>
              <a:rPr lang="en-US" dirty="0"/>
              <a:t>document. The “-“ character doesn’t’ always copy correctly and will cause</a:t>
            </a:r>
          </a:p>
          <a:p>
            <a:r>
              <a:rPr lang="en-US" dirty="0"/>
              <a:t>an error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410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3335B10-3276-FD0A-B04A-38256DA81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49" y="189754"/>
            <a:ext cx="8309702" cy="647849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0573A65-CA12-153D-F3DD-943C67FC0A67}"/>
              </a:ext>
            </a:extLst>
          </p:cNvPr>
          <p:cNvSpPr/>
          <p:nvPr/>
        </p:nvSpPr>
        <p:spPr>
          <a:xfrm>
            <a:off x="426749" y="163996"/>
            <a:ext cx="8082776" cy="3651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2410C1-50BA-9CDC-F35D-C41B07D2AFEE}"/>
              </a:ext>
            </a:extLst>
          </p:cNvPr>
          <p:cNvSpPr/>
          <p:nvPr/>
        </p:nvSpPr>
        <p:spPr>
          <a:xfrm>
            <a:off x="426748" y="2936383"/>
            <a:ext cx="8309701" cy="3651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01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7000F45-B609-0F9E-9BEF-016B978F0F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092" y="0"/>
            <a:ext cx="8168210" cy="669276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528A5E8-102C-1EE5-CF89-37B2C15048BF}"/>
              </a:ext>
            </a:extLst>
          </p:cNvPr>
          <p:cNvSpPr/>
          <p:nvPr/>
        </p:nvSpPr>
        <p:spPr>
          <a:xfrm>
            <a:off x="314092" y="0"/>
            <a:ext cx="8082776" cy="3651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368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5847BB-D466-A22E-6AB7-5E0CB76B338D}"/>
              </a:ext>
            </a:extLst>
          </p:cNvPr>
          <p:cNvSpPr txBox="1"/>
          <p:nvPr/>
        </p:nvSpPr>
        <p:spPr>
          <a:xfrm>
            <a:off x="372186" y="209123"/>
            <a:ext cx="1144762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Simulate design</a:t>
            </a:r>
          </a:p>
          <a:p>
            <a:r>
              <a:rPr lang="en-US" dirty="0"/>
              <a:t>Navigate to the /simulation directory and do the command: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source sim-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nc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–sim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mux_tb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-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gui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/>
              <a:t>This command will launch a simulation for the testbench</a:t>
            </a:r>
          </a:p>
          <a:p>
            <a:r>
              <a:rPr lang="en-US" dirty="0"/>
              <a:t>testbench/</a:t>
            </a:r>
            <a:r>
              <a:rPr lang="en-US" dirty="0" err="1"/>
              <a:t>program_counter_tb.v</a:t>
            </a:r>
            <a:r>
              <a:rPr lang="en-US" dirty="0"/>
              <a:t> and bring up the simulation </a:t>
            </a:r>
            <a:r>
              <a:rPr lang="en-US" dirty="0" err="1"/>
              <a:t>gui</a:t>
            </a:r>
            <a:r>
              <a:rPr lang="en-US" dirty="0"/>
              <a:t>.</a:t>
            </a:r>
          </a:p>
          <a:p>
            <a:r>
              <a:rPr lang="en-US" dirty="0"/>
              <a:t>Send all signals to the waveform window, run the simulation, and zoom out to see the</a:t>
            </a:r>
          </a:p>
          <a:p>
            <a:r>
              <a:rPr lang="en-US" dirty="0"/>
              <a:t>full waveform</a:t>
            </a: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4BF964-A4F2-C693-08FF-E9F0A1F020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86" y="2205775"/>
            <a:ext cx="7772400" cy="455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135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E0E057-C00C-05AC-7C3E-00279EB9B6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31" y="202306"/>
            <a:ext cx="10113761" cy="642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30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A11BE0-7918-B545-2C93-0A8EB9300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72" y="0"/>
            <a:ext cx="7068534" cy="684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56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AB54D-74F3-F229-0D9E-F9900879E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7F59-176D-3714-D113-21569AC1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Lab Report 1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F8B5F-8283-CA47-F17A-60D3B8DBA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Submit screenshots of simulation waveforms for </a:t>
            </a:r>
            <a:r>
              <a:rPr lang="en-US" altLang="zh-CN" dirty="0" err="1"/>
              <a:t>mux_b</a:t>
            </a:r>
            <a:r>
              <a:rPr lang="en-US" altLang="zh-CN" dirty="0"/>
              <a:t> &amp; </a:t>
            </a:r>
            <a:r>
              <a:rPr lang="en-US" altLang="zh-CN" dirty="0" err="1"/>
              <a:t>mux_s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3533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11171</TotalTime>
  <Words>634</Words>
  <Application>Microsoft Macintosh PowerPoint</Application>
  <PresentationFormat>Widescreen</PresentationFormat>
  <Paragraphs>79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Courier New</vt:lpstr>
      <vt:lpstr>Office Theme</vt:lpstr>
      <vt:lpstr>ECE 4150/6250_Lab1 Environment Set Up</vt:lpstr>
      <vt:lpstr>Lab Goal</vt:lpstr>
      <vt:lpstr>Step 1</vt:lpstr>
      <vt:lpstr>Remote access</vt:lpstr>
      <vt:lpstr>Launch Session -&gt;GNOME</vt:lpstr>
      <vt:lpstr>Activities -&gt; Files-&gt;Home</vt:lpstr>
      <vt:lpstr>PowerPoint Presentation</vt:lpstr>
      <vt:lpstr>Step 2 (skip this if you have take ECE4140/6240)</vt:lpstr>
      <vt:lpstr>PowerPoint Presentation</vt:lpstr>
      <vt:lpstr>Step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 Report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ECE6250_Lab1 Environment Set Up</dc:title>
  <dc:creator>Zhou, You</dc:creator>
  <cp:lastModifiedBy>Xin, Sichen</cp:lastModifiedBy>
  <cp:revision>38</cp:revision>
  <dcterms:created xsi:type="dcterms:W3CDTF">2022-11-22T15:49:55Z</dcterms:created>
  <dcterms:modified xsi:type="dcterms:W3CDTF">2026-01-12T03:03:38Z</dcterms:modified>
</cp:coreProperties>
</file>